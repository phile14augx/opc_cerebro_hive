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4114800" cy="4114800"/>
          </a:xfrm>
          <a:prstGeom prst="ellipse">
            <a:avLst/>
          </a:prstGeom>
          <a:solidFill>
            <a:srgbClr val="7A5CFF">
              <a:alpha val="9000"/>
            </a:srgbClr>
          </a:solidFill>
          <a:ln w="12700">
            <a:solidFill>
              <a:srgbClr val="7A5C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0"/>
            <a:ext cx="2286000" cy="2286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CerebroHive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 Future of Intelligence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2743200" cy="2743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Consulting  •  AI Automation  •  AI Education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-  For Discussion Purposes Only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AI adoption wave is massive  -  but most organizations are flying blind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06040" cy="219456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716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Rs.2.9L Cr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94360" y="2304288"/>
            <a:ext cx="2057400" cy="22860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3957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AI market by 2027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249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at 33% CAGR  -  the fastest in Asia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234440"/>
            <a:ext cx="2606040" cy="219456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3716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3429000" y="2304288"/>
            <a:ext cx="2057400" cy="22860"/>
          </a:xfrm>
          <a:prstGeom prst="rect">
            <a:avLst/>
          </a:prstGeom>
          <a:solidFill>
            <a:srgbClr val="7A5CFF">
              <a:alpha val="50000"/>
            </a:srgbClr>
          </a:solidFill>
          <a:ln w="12700">
            <a:solidFill>
              <a:srgbClr val="7A5C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3957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projects fail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7249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poor strategy, no governance, and wrong tool selection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234440"/>
            <a:ext cx="2606040" cy="219456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3716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82%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6263640" y="2304288"/>
            <a:ext cx="2057400" cy="22860"/>
          </a:xfrm>
          <a:prstGeom prst="rect">
            <a:avLst/>
          </a:prstGeom>
          <a:solidFill>
            <a:srgbClr val="FF8A00">
              <a:alpha val="50000"/>
            </a:srgbClr>
          </a:solidFill>
          <a:ln w="12700">
            <a:solidFill>
              <a:srgbClr val="FF8A0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3957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lack AI talent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7249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for AI professionals far exceeds supply in India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566160"/>
            <a:ext cx="8503920" cy="1325880"/>
          </a:xfrm>
          <a:prstGeom prst="rect">
            <a:avLst/>
          </a:prstGeom>
          <a:solidFill>
            <a:srgbClr val="0F182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639312"/>
            <a:ext cx="8092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"Organizations know AI is transforming their industry  -  but they don't know where to start, what to automate, or how to build AI-ready teams. The gap between AI intent and AI execution is the biggest business problem of this decade."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937760" cy="397764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87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AI MARKET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1481328"/>
            <a:ext cx="502920" cy="320040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389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Rs.58,000 Cr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389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3000" y="2212848"/>
            <a:ext cx="960120" cy="320040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21214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Rs.77,000 Cr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12140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8529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3000" y="2944368"/>
            <a:ext cx="1417320" cy="320040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Rs.1.03L Cr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28529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43000" y="3675888"/>
            <a:ext cx="1874520" cy="320040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35844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Rs.1.37L Cr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358444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868680"/>
            <a:ext cx="3246120" cy="397764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60720" y="9875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SEGMENTS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0" y="1389888"/>
            <a:ext cx="3017520" cy="960120"/>
          </a:xfrm>
          <a:prstGeom prst="rect">
            <a:avLst/>
          </a:prstGeom>
          <a:solidFill>
            <a:srgbClr val="0F1828"/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1453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&amp; Mid-Market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06440" y="1719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~2.5M orgs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06440" y="19568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Cost reduction &amp; automation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2487168"/>
            <a:ext cx="3017520" cy="960120"/>
          </a:xfrm>
          <a:prstGeom prst="rect">
            <a:avLst/>
          </a:prstGeom>
          <a:solidFill>
            <a:srgbClr val="0F1828"/>
          </a:solidFill>
          <a:ln w="7620">
            <a:solidFill>
              <a:srgbClr val="7A5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2551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06440" y="2816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~15,000 cos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&amp; large-scale transformation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584448"/>
            <a:ext cx="3017520" cy="960120"/>
          </a:xfrm>
          <a:prstGeom prst="rect">
            <a:avLst/>
          </a:prstGeom>
          <a:solidFill>
            <a:srgbClr val="0F1828"/>
          </a:solidFill>
          <a:ln w="7620">
            <a:solidFill>
              <a:srgbClr val="FF8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3648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&amp; Teams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06440" y="3913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~50M workers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0644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upskilling &amp; career acceleration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AI transformation partner  -  strategy, automation, and education under one roof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606040" cy="3749040"/>
          </a:xfrm>
          <a:prstGeom prst="rect">
            <a:avLst/>
          </a:prstGeom>
          <a:solidFill>
            <a:srgbClr val="1A2238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2606040" cy="502920"/>
          </a:xfrm>
          <a:prstGeom prst="rect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61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CerebroHive Consulting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to 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" y="1874520"/>
            <a:ext cx="201168" cy="2011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Assessment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" y="2560320"/>
            <a:ext cx="201168" cy="2011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Roadmap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" y="3246120"/>
            <a:ext cx="201168" cy="2011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&amp; Policy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" y="3931920"/>
            <a:ext cx="201168" cy="2011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modeling and strategy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54680" y="1115568"/>
            <a:ext cx="2606040" cy="3749040"/>
          </a:xfrm>
          <a:prstGeom prst="rect">
            <a:avLst/>
          </a:prstGeom>
          <a:solidFill>
            <a:srgbClr val="1A2238"/>
          </a:solidFill>
          <a:ln w="1270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115568"/>
            <a:ext cx="2606040" cy="502920"/>
          </a:xfrm>
          <a:prstGeom prst="rect">
            <a:avLst/>
          </a:prstGeom>
          <a:solidFill>
            <a:srgbClr val="7A5CFF">
              <a:alpha val="20000"/>
            </a:srgbClr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161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CerebroHive Automation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54680" y="144475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happen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9272" y="1874520"/>
            <a:ext cx="201168" cy="201168"/>
          </a:xfrm>
          <a:prstGeom prst="ellipse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Agent development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9272" y="2560320"/>
            <a:ext cx="201168" cy="201168"/>
          </a:xfrm>
          <a:prstGeom prst="ellipse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(RPA + AI)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9272" y="3246120"/>
            <a:ext cx="201168" cy="201168"/>
          </a:xfrm>
          <a:prstGeom prst="ellipse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3592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ERP, HR automation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9272" y="3931920"/>
            <a:ext cx="201168" cy="201168"/>
          </a:xfrm>
          <a:prstGeom prst="ellipse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maintenance retainers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9320" y="1115568"/>
            <a:ext cx="2606040" cy="3749040"/>
          </a:xfrm>
          <a:prstGeom prst="rect">
            <a:avLst/>
          </a:prstGeom>
          <a:solidFill>
            <a:srgbClr val="1A2238"/>
          </a:solidFill>
          <a:ln w="1270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9320" y="1115568"/>
            <a:ext cx="2606040" cy="502920"/>
          </a:xfrm>
          <a:prstGeom prst="rect">
            <a:avLst/>
          </a:prstGeom>
          <a:solidFill>
            <a:srgbClr val="FF8A00">
              <a:alpha val="20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1161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CerebroHive Academy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89320" y="144475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capability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53912" y="1874520"/>
            <a:ext cx="201168" cy="201168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bootcamps (live + online)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53912" y="2560320"/>
            <a:ext cx="201168" cy="201168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training programs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53912" y="3246120"/>
            <a:ext cx="201168" cy="201168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courses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53912" y="3931920"/>
            <a:ext cx="201168" cy="201168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learning platforms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&gt; Automation &gt; Academy: each division feeds the next, compounding client value and LTV.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revenue streams across three divisions  -  services now, products at scale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114800" cy="100584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64008" cy="10058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Fees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868680" cy="256032"/>
          </a:xfrm>
          <a:prstGeom prst="rect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88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527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Rs.7L-Rs.10L/project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01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65%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4114800" cy="100584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15568"/>
            <a:ext cx="64008" cy="10058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07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Retainers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1188720"/>
            <a:ext cx="868680" cy="256032"/>
          </a:xfrm>
          <a:prstGeom prst="rect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1188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MRR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37760" y="1527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Rs.40K-Rs.1L/month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801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75%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258568"/>
            <a:ext cx="4114800" cy="100584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258568"/>
            <a:ext cx="64008" cy="1005840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350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Build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2331720"/>
            <a:ext cx="868680" cy="256032"/>
          </a:xfrm>
          <a:prstGeom prst="rect">
            <a:avLst/>
          </a:prstGeom>
          <a:solidFill>
            <a:srgbClr val="7A5CFF">
              <a:alpha val="20000"/>
            </a:srgbClr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331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Rs.8L-Rs.14L/project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944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58%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258568"/>
            <a:ext cx="4114800" cy="100584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58568"/>
            <a:ext cx="64008" cy="1005840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350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Support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63840" y="2331720"/>
            <a:ext cx="868680" cy="256032"/>
          </a:xfrm>
          <a:prstGeom prst="rect">
            <a:avLst/>
          </a:prstGeom>
          <a:solidFill>
            <a:srgbClr val="7A5CFF">
              <a:alpha val="20000"/>
            </a:srgbClr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2331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MRR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37760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Rs.25K-Rs.60K/month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2944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80%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401568"/>
            <a:ext cx="4114800" cy="100584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401568"/>
            <a:ext cx="64008" cy="100584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Courses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29000" y="3474720"/>
            <a:ext cx="868680" cy="256032"/>
          </a:xfrm>
          <a:prstGeom prst="rect">
            <a:avLst/>
          </a:prstGeom>
          <a:solidFill>
            <a:srgbClr val="FF8A00">
              <a:alpha val="20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3474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3813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Rs.5K-Rs.6K/course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087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85%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401568"/>
            <a:ext cx="4114800" cy="100584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401568"/>
            <a:ext cx="64008" cy="100584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/ Corporate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63840" y="3474720"/>
            <a:ext cx="868680" cy="256032"/>
          </a:xfrm>
          <a:prstGeom prst="rect">
            <a:avLst/>
          </a:prstGeom>
          <a:solidFill>
            <a:srgbClr val="FF8A00">
              <a:alpha val="20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0" y="3474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/ B2B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37760" y="3813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Rs.40K-Rs.50K/student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37760" y="4087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65%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1A0F30"/>
          </a:solidFill>
          <a:ln w="10160">
            <a:solidFill>
              <a:srgbClr val="7A5C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6085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3+: SaaS / Product Revenue (CerebroFlow, CerebroAgent, CerebroLearn)   -   Target 30% of total revenue by Year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revenue recognition  -  milestone-based billing, deferred revenue tracked separately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06040" cy="3794760"/>
          </a:xfrm>
          <a:prstGeom prst="rect">
            <a:avLst/>
          </a:prstGeom>
          <a:solidFill>
            <a:srgbClr val="1A2238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06040" cy="365760"/>
          </a:xfrm>
          <a:prstGeom prst="rect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" y="1600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Rs.62.2L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2221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2478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Rs.39.2L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" y="2843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(PAT)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3099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3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Rs.18.8L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" y="34655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2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" y="4087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2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8-12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54680" y="1097280"/>
            <a:ext cx="2606040" cy="3794760"/>
          </a:xfrm>
          <a:prstGeom prst="rect">
            <a:avLst/>
          </a:prstGeom>
          <a:solidFill>
            <a:srgbClr val="1A2238"/>
          </a:solidFill>
          <a:ln w="1270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097280"/>
            <a:ext cx="2606040" cy="365760"/>
          </a:xfrm>
          <a:prstGeom prst="rect">
            <a:avLst/>
          </a:prstGeom>
          <a:solidFill>
            <a:srgbClr val="7A5CFF">
              <a:alpha val="20000"/>
            </a:srgbClr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11155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19272" y="1600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9272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Rs.2.12 Cr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19272" y="2221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9272" y="2478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Rs.1.42 Cr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19272" y="2843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(PAT)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9272" y="3099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3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Rs.81.2L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19272" y="34655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9272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2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19272" y="4087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19272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2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25-35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89320" y="1097280"/>
            <a:ext cx="2606040" cy="3794760"/>
          </a:xfrm>
          <a:prstGeom prst="rect">
            <a:avLst/>
          </a:prstGeom>
          <a:solidFill>
            <a:srgbClr val="1A2238"/>
          </a:solidFill>
          <a:ln w="1270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1097280"/>
            <a:ext cx="2606040" cy="365760"/>
          </a:xfrm>
          <a:prstGeom prst="rect">
            <a:avLst/>
          </a:prstGeom>
          <a:solidFill>
            <a:srgbClr val="FF8A00">
              <a:alpha val="20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11155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53912" y="1600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53912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Rs.5.49 Cr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53912" y="2221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53912" y="2478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Rs.3.97 Cr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53912" y="2843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(PAT)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53912" y="3099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3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Rs.2.29 Cr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53912" y="34655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53912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2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42%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53912" y="4087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Clients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53912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2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60-80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331720"/>
            <a:ext cx="8229600" cy="45720"/>
          </a:xfrm>
          <a:prstGeom prst="rect">
            <a:avLst/>
          </a:prstGeom>
          <a:solidFill>
            <a:srgbClr val="8892A4">
              <a:alpha val="30000"/>
            </a:srgbClr>
          </a:solidFill>
          <a:ln w="12700">
            <a:solidFill>
              <a:srgbClr val="8892A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212848"/>
            <a:ext cx="256032" cy="25603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42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658368"/>
            <a:ext cx="1691640" cy="141732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749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Founder-Led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Prove value with first clients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441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Build case studies &amp; processes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5910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Launch Academy (Q3)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8379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Reach Rs.62L revenue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2212848"/>
            <a:ext cx="256032" cy="256032"/>
          </a:xfrm>
          <a:prstGeom prst="ellipse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2542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0" y="2788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80360" y="658368"/>
            <a:ext cx="1691640" cy="141732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26080" y="749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Team-Enabled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1097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Hire delivery team (2-3)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13441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First BDR / sales role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15910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Academy scales independently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26080" y="18379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Reach Rs.2.12 Cr revenue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0" y="2212848"/>
            <a:ext cx="256032" cy="256032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2542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94960" y="2788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49240" y="658368"/>
            <a:ext cx="1691640" cy="141732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94960" y="749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Product-Driven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1097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CerebroFlow &amp; CerebroAgent launch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13441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Software ARR begins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94960" y="15910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Enterprise clients onboarded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94960" y="18379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Reach Rs.5.49 Cr revenue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23760" y="2212848"/>
            <a:ext cx="256032" cy="256032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2542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49440" y="2788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4-5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03720" y="658368"/>
            <a:ext cx="1691640" cy="1417320"/>
          </a:xfrm>
          <a:prstGeom prst="rect">
            <a:avLst/>
          </a:prstGeom>
          <a:solidFill>
            <a:srgbClr val="1A2238"/>
          </a:solidFill>
          <a:ln w="10160">
            <a:solidFill>
              <a:srgbClr val="39D35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49440" y="749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9440" y="1097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CerebroOS positioning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0" y="13441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International expansion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49440" y="15910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M&amp;A opportunity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49440" y="18379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Rs.15 Cr+ target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457200"/>
            <a:ext cx="4572000" cy="4572000"/>
          </a:xfrm>
          <a:prstGeom prst="ellipse">
            <a:avLst/>
          </a:prstGeom>
          <a:solidFill>
            <a:srgbClr val="7A5CFF">
              <a:alpha val="7000"/>
            </a:srgbClr>
          </a:solidFill>
          <a:ln w="12700">
            <a:solidFill>
              <a:srgbClr val="7A5CFF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Rs.1.5 Crore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Round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18-month runway to reach profitability and Series A readiness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907792"/>
            <a:ext cx="1920240" cy="169164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9992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3639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39319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CerebroFlow &amp; CerebroAgent MVP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2907792"/>
            <a:ext cx="1920240" cy="169164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29992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3639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Delivery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7752" y="39319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3-4 AI practitioners + 1 sales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2907792"/>
            <a:ext cx="1920240" cy="169164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29992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17720" y="3639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90872" y="39319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events, LinkedIn paid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0840" y="2907792"/>
            <a:ext cx="1920240" cy="1691640"/>
          </a:xfrm>
          <a:prstGeom prst="rect">
            <a:avLst/>
          </a:prstGeom>
          <a:solidFill>
            <a:srgbClr val="1A2238"/>
          </a:solidFill>
          <a:ln w="10160">
            <a:solidFill>
              <a:srgbClr val="39D35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29992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D3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20840" y="3639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93992" y="39319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accounting, infrastructure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4736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ravananviswanath@gmail.com  •  www.cerebro-hive.com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CerebroHive  -  Investor Presentation</dc:title>
  <dc:subject>PptxGenJS Presentation</dc:subject>
  <dc:creator>CerebroHive</dc:creator>
  <cp:lastModifiedBy>CerebroHive</cp:lastModifiedBy>
  <cp:revision>1</cp:revision>
  <dcterms:created xsi:type="dcterms:W3CDTF">2026-06-15T15:13:13Z</dcterms:created>
  <dcterms:modified xsi:type="dcterms:W3CDTF">2026-06-15T15:13:13Z</dcterms:modified>
</cp:coreProperties>
</file>