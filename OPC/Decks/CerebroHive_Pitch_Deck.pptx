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73152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13716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128016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73736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100584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228600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237744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292608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3474720"/>
            <a:ext cx="502920" cy="502920"/>
          </a:xfrm>
          <a:prstGeom prst="hexagon">
            <a:avLst/>
          </a:prstGeom>
          <a:solidFill>
            <a:srgbClr val="1A2238">
              <a:alpha val="40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457200" y="1773936"/>
            <a:ext cx="201168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1773936"/>
            <a:ext cx="1005840" cy="50292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21024" y="1773936"/>
            <a:ext cx="502920" cy="5029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20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Future of Intelligence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251460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14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4480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Transformation Partner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verticals. Recurring revenue at every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160520" cy="138988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256032" cy="13898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81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" y="177393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 services market is projected to reach $17B by 2027. 85% of SMEs and enterprises lack structured AI adoption frameworks.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389888"/>
            <a:ext cx="4160520" cy="138988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389888"/>
            <a:ext cx="256032" cy="1389888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481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773936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delivers AI Consulting, Business Automation, and AI Education under one brand — converting clients at every maturity stage.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160520" cy="138988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62656"/>
            <a:ext cx="256032" cy="138988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540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334670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layered streams: consulting retainers, automation SaaS licenses, and academy subscriptions — building compounding MRR.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2962656"/>
            <a:ext cx="4160520" cy="1389888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2962656"/>
            <a:ext cx="256032" cy="13898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0540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Ask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34670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to first revenue. Raising Rs. 2 Cr seed to fund GTM, product build, and team. Targeting Rs. 5 Cr ARR by Year 2.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Businesses Know AI Matters.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don't know where to start — or who to trust.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51760" cy="340156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SMEs have no AI roadmap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706624"/>
            <a:ext cx="1554480" cy="3200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78892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remains abstract — leaders want results but lack the internal capability to translate intent into implementation.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651760" cy="340156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failed AI pilots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706624"/>
            <a:ext cx="1554480" cy="32004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78892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attempt AI without strategy and burn budget on disconnected tools, misaligned vendors, and zero ROI.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389888"/>
            <a:ext cx="2651760" cy="340156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1554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fear AI displacement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2706624"/>
            <a:ext cx="155448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278892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anxiety is a real blocker. Without structured upskilling, AI adoption stalls due to internal resistance.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CerebroHive: A Complete AI Ecosystem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builds the strategy. Automation executes it. Academy sustains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89888"/>
            <a:ext cx="2377440" cy="3337560"/>
          </a:xfrm>
          <a:prstGeom prst="rect">
            <a:avLst/>
          </a:prstGeom>
          <a:solidFill>
            <a:srgbClr val="151E3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Brand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+ Automation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Education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389888"/>
            <a:ext cx="2926080" cy="333756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Consulting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2176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 Readiness Assessment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Transformation Roadmap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 Governance &amp; Policy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Custom AI Strategy Engagements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Change Management &amp; Adoption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389888"/>
            <a:ext cx="2880360" cy="157276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1508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Automation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0482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Workflow &amp; AI Agents    [+]  RPA &amp; CRM Automation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3072384"/>
            <a:ext cx="2880360" cy="1655064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1912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35112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Academy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37490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 Bootcamps    [+]  Corporate Training &amp; Certs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$17B+ Addressable Market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 services and education sector growing at 35% CAGR through 2028.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754880" cy="3520440"/>
          </a:xfrm>
          <a:prstGeom prst="ellipse">
            <a:avLst/>
          </a:prstGeom>
          <a:solidFill>
            <a:srgbClr val="0D1A35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00200"/>
            <a:ext cx="3657600" cy="278892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965960"/>
            <a:ext cx="2468880" cy="2057400"/>
          </a:xfrm>
          <a:prstGeom prst="ellipse">
            <a:avLst/>
          </a:prstGeom>
          <a:solidFill>
            <a:srgbClr val="1A2238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1325880"/>
            <a:ext cx="3566160" cy="114300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49240" y="1325880"/>
            <a:ext cx="201168" cy="114300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$17B+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19110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(India AI Services 2027)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624328"/>
            <a:ext cx="3566160" cy="114300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2624328"/>
            <a:ext cx="201168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7157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$4.2B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23560" y="32095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(SME + Mid-market AI)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49240" y="3922776"/>
            <a:ext cx="3566160" cy="1143000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49240" y="3922776"/>
            <a:ext cx="201168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0142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$320M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23560" y="45079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(Yr 1-3 target segment)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Validates the Urgency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surveys and secondary data from NASSCOM, Gartner, McKinsey 2024-25.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160020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8132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4048" y="2011680"/>
            <a:ext cx="2523744" cy="25603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8483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CXOs rank AI adoption as their top 3 strategic priority for 2025-26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389888"/>
            <a:ext cx="2743200" cy="160020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28416" y="148132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28416" y="2011680"/>
            <a:ext cx="2523744" cy="25603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08483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reported by SMEs that deployed structured AI automation vs. ad-hoc tooling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389888"/>
            <a:ext cx="2743200" cy="160020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148132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 8,200 Cr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2784" y="2011680"/>
            <a:ext cx="2523744" cy="25603"/>
          </a:xfrm>
          <a:prstGeom prst="rect">
            <a:avLst/>
          </a:prstGeom>
          <a:solidFill>
            <a:srgbClr val="7A5CFF">
              <a:alpha val="40000"/>
            </a:srgbClr>
          </a:solidFill>
          <a:ln w="12700">
            <a:solidFill>
              <a:srgbClr val="7A5C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208483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by Indian enterprises for AI training and upskilling in 2024 (NASSCOM)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2743200" cy="1600200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23697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84048" y="3767328"/>
            <a:ext cx="2523744" cy="25603"/>
          </a:xfrm>
          <a:prstGeom prst="rect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4048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engagements fail due to no internal champion — creating demand for managed services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3145536"/>
            <a:ext cx="2743200" cy="160020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28416" y="323697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2.3M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328416" y="3767328"/>
            <a:ext cx="2523744" cy="25603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384048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AI talent gap in India by 2027 — fueling demand for structured bootcamps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3145536"/>
            <a:ext cx="2743200" cy="160020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72784" y="323697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62%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72784" y="3767328"/>
            <a:ext cx="2523744" cy="25603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840480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spend goes to external consultants and system integrators — not software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Revenue Streams, One Brand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drives trust. Automation drives scale. Academy drives community.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743200" cy="358444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2743200" cy="384048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Retainer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 Readiness (Rs. 1.5-5L per project)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Transformation Retainer (Rs. 2-8L/month)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081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 Governance &amp; Policy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557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Custom AI Strategy Engagements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517136"/>
            <a:ext cx="2560320" cy="25603"/>
          </a:xfrm>
          <a:prstGeom prst="rect">
            <a:avLst/>
          </a:prstGeom>
          <a:solidFill>
            <a:srgbClr val="7A5CFF">
              <a:alpha val="50000"/>
            </a:srgbClr>
          </a:solidFill>
          <a:ln w="12700">
            <a:solidFill>
              <a:srgbClr val="7A5C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55-65% gross margin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73552" y="1353312"/>
            <a:ext cx="2743200" cy="358444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353312"/>
            <a:ext cx="2743200" cy="38404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353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64992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Implementation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21305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Workflow setup (Rs. 1-4L one-time)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2606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CerebroFlow license (Rs. 15-60K/mo)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4992" y="3081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 Agent subscriptions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64992" y="3557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Enterprise RPA contracts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4517136"/>
            <a:ext cx="2560320" cy="25603"/>
          </a:xfrm>
          <a:prstGeom prst="rect">
            <a:avLst/>
          </a:prstGeom>
          <a:solidFill>
            <a:srgbClr val="FF8A00">
              <a:alpha val="50000"/>
            </a:srgbClr>
          </a:solidFill>
          <a:ln w="12700">
            <a:solidFill>
              <a:srgbClr val="FF8A0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65-75% gross margin (SaaS)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72784" y="1353312"/>
            <a:ext cx="2743200" cy="358444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72784" y="1353312"/>
            <a:ext cx="2743200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353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64224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+ Cohort + B2B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21305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Individual courses (Rs. 5-25K)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64224" y="26060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Bootcamp cohorts (Rs. 30-60K)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64224" y="30815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Corporate training (Rs. 2-10L)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64224" y="3557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Certification programs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64224" y="4517136"/>
            <a:ext cx="2560320" cy="25603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 gross margin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Services to Products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platforms under development that convert service IP into scalable software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0" y="148132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F8A00">
              <a:alpha val="20000"/>
            </a:srgbClr>
          </a:solidFill>
          <a:ln w="10160">
            <a:solidFill>
              <a:srgbClr val="FF8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813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66544"/>
            <a:ext cx="3886200" cy="25603"/>
          </a:xfrm>
          <a:prstGeom prst="rect">
            <a:avLst/>
          </a:prstGeom>
          <a:solidFill>
            <a:srgbClr val="FF8A00">
              <a:alpha val="30000"/>
            </a:srgbClr>
          </a:solidFill>
          <a:ln w="12700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488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AI workflow builder for SMEs. Connects LLMs to business processes — CRM, ERP, support.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99248" y="148132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7A5CFF">
              <a:alpha val="20000"/>
            </a:srgbClr>
          </a:solidFill>
          <a:ln w="10160">
            <a:solidFill>
              <a:srgbClr val="7A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9248" y="14813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18888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18888" y="1810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Builder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18888" y="2066544"/>
            <a:ext cx="3886200" cy="25603"/>
          </a:xfrm>
          <a:prstGeom prst="rect">
            <a:avLst/>
          </a:prstGeom>
          <a:solidFill>
            <a:srgbClr val="7A5CFF">
              <a:alpha val="30000"/>
            </a:srgbClr>
          </a:solidFill>
          <a:ln w="12700">
            <a:solidFill>
              <a:srgbClr val="7A5C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1488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deploy and monitor AI agents for sales, support, and operations without engineering overhead.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291840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00E5FF">
              <a:alpha val="2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2735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CerebroLearn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3621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877056"/>
            <a:ext cx="3886200" cy="25603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5935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for AI courses and corporate cohorts. Includes assessments, certifications, and community.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182112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99248" y="3291840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00C896">
              <a:alpha val="20000"/>
            </a:srgbClr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3291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18888" y="32735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CerebroERP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18888" y="36210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ERP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18888" y="3877056"/>
            <a:ext cx="3886200" cy="25603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95935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ERP with embedded AI for SME operations — finance, HR, inventory, and analytics in one.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Land, Expand, Educate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vertical feeds the next: consulting clients become automation clients become academy sponsors.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743200" cy="349300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2743200" cy="347472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76479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Months 1-6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0848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Direct outreach to 200 SME targets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70662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LinkedIn thought leadership content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3284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Free AI Readiness Assessment as lead magnet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9502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3-5 consulting anchor clients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353312"/>
            <a:ext cx="2743200" cy="349300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353312"/>
            <a:ext cx="2743200" cy="34747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8416" y="176479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Months 4-12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416" y="20848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Upsell automation to consulting clients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270662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Channel partners: CA firms, tech integrators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33284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CerebroFlow beta with anchor clients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39502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Target 10+ automation retainers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1353312"/>
            <a:ext cx="2743200" cy="349300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353312"/>
            <a:ext cx="2743200" cy="34747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3533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2784" y="176479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Months 8-18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2784" y="20848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Launch public AI bootcamp cohorts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70662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Pitch corporate training to enterprise HR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33284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Academy alumni as consulting pipeline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39502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B2B SaaS &amp; course bundle deals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35808" y="28346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80176" y="28346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Multi-Channel Acquisition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authority + outbound precision + partner leverage.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743200" cy="349300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44475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 (Content + SEO)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8745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contribution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212848"/>
            <a:ext cx="2523744" cy="25603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30428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LinkedIn daily AI insights (80% educational)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87121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YouTube: AI for Business series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43814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Free tools &amp; templates as lead magnets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400507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SEO-optimized AI guides and case studies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353312"/>
            <a:ext cx="2743200" cy="349300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28416" y="144475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  (Direct Sales)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56048" y="18745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7A5CFF">
              <a:alpha val="2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contribution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28416" y="2212848"/>
            <a:ext cx="2523744" cy="25603"/>
          </a:xfrm>
          <a:prstGeom prst="rect">
            <a:avLst/>
          </a:prstGeom>
          <a:solidFill>
            <a:srgbClr val="7A5CFF">
              <a:alpha val="40000"/>
            </a:srgbClr>
          </a:solidFill>
          <a:ln w="12700">
            <a:solidFill>
              <a:srgbClr val="7A5C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230428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Targeted outreach: 50 SMEs/week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28416" y="287121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Cold email with AI readiness quiz hook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8416" y="343814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LinkedIn DM sequences for C-suite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8416" y="400507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Webinars as top-of-funnel events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1353312"/>
            <a:ext cx="2743200" cy="349300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72784" y="144475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Partners  (Channel)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00416" y="187452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0416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contribution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72784" y="2212848"/>
            <a:ext cx="2523744" cy="25603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30428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CA and financial advisor referral network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2784" y="287121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Tech integrator co-sell arrangements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2784" y="343814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Startup accelerator partnerships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72784" y="400507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Corporate HR training tie-ups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 16.5 Cr ARR by Year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— assumes 3 consulting clients in Y1, 12% MoM automation growth.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8288" cy="320040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4736592"/>
            <a:ext cx="5212080" cy="18288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936492"/>
            <a:ext cx="5212080" cy="9144"/>
          </a:xfrm>
          <a:prstGeom prst="rect">
            <a:avLst/>
          </a:prstGeom>
          <a:solidFill>
            <a:srgbClr val="8A9BB5">
              <a:alpha val="30000"/>
            </a:srgbClr>
          </a:solidFill>
          <a:ln w="12700">
            <a:solidFill>
              <a:srgbClr val="8A9BB5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8267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" y="3136392"/>
            <a:ext cx="5212080" cy="9144"/>
          </a:xfrm>
          <a:prstGeom prst="rect">
            <a:avLst/>
          </a:prstGeom>
          <a:solidFill>
            <a:srgbClr val="8A9BB5">
              <a:alpha val="30000"/>
            </a:srgbClr>
          </a:solidFill>
          <a:ln w="12700">
            <a:solidFill>
              <a:srgbClr val="8A9BB5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26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4360" y="2336292"/>
            <a:ext cx="5212080" cy="9144"/>
          </a:xfrm>
          <a:prstGeom prst="rect">
            <a:avLst/>
          </a:prstGeom>
          <a:solidFill>
            <a:srgbClr val="8A9BB5">
              <a:alpha val="30000"/>
            </a:srgbClr>
          </a:solidFill>
          <a:ln w="12700">
            <a:solidFill>
              <a:srgbClr val="8A9BB5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265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" y="4696587"/>
            <a:ext cx="280416" cy="40005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4504" y="4727702"/>
            <a:ext cx="280416" cy="889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1496" y="4732147"/>
            <a:ext cx="280416" cy="4445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791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4992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Rs.1.2 Cr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64792" y="4629912"/>
            <a:ext cx="280416" cy="10668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81784" y="4674362"/>
            <a:ext cx="280416" cy="6223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98776" y="4692142"/>
            <a:ext cx="280416" cy="444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4791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91640" y="4992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Rs.4.8 Cr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62072" y="4469892"/>
            <a:ext cx="280416" cy="26670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9064" y="4492117"/>
            <a:ext cx="280416" cy="244475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6056" y="4514342"/>
            <a:ext cx="280416" cy="2222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791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88920" y="4992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Rs.16.5 Cr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59352" y="4247642"/>
            <a:ext cx="280416" cy="48895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6344" y="4114292"/>
            <a:ext cx="280416" cy="62230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3336" y="4158742"/>
            <a:ext cx="280416" cy="57785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4791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86200" y="4992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Rs.38 Cr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56632" y="3936492"/>
            <a:ext cx="280416" cy="800100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73624" y="3403092"/>
            <a:ext cx="280416" cy="1333500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90616" y="3669792"/>
            <a:ext cx="280416" cy="1066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4791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83480" y="4992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Rs.72 Cr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60" y="1280160"/>
            <a:ext cx="164592" cy="164592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12618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377440" y="1280160"/>
            <a:ext cx="164592" cy="16459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12618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60520" y="1280160"/>
            <a:ext cx="164592" cy="1645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3400" y="12618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80760" y="1463040"/>
            <a:ext cx="2834640" cy="74980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7220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Rs.1.2 Cr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17220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80760" y="2331720"/>
            <a:ext cx="2834640" cy="74980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17220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Rs.16.5 Cr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72200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ARR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3200400"/>
            <a:ext cx="2834640" cy="74980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17220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Rs.72 Cr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172200" y="3639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ARR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80760" y="4069080"/>
            <a:ext cx="2834640" cy="749808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172200" y="4114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172200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Margin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Lean. Remote-First. Scalable.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model built for capital efficiency — high output per rupee invested.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4160520" cy="320040"/>
          </a:xfrm>
          <a:prstGeom prst="rect">
            <a:avLst/>
          </a:prstGeom>
          <a:solidFill>
            <a:srgbClr val="7A5CFF">
              <a:alpha val="25000"/>
            </a:srgbClr>
          </a:solidFill>
          <a:ln w="12700">
            <a:solidFill>
              <a:srgbClr val="7A5C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Core team of 4 FTEs + freelancer network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Remote-first with co-working hubs in Tier 1 cities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591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Delivery pods: 1 Lead + 2 specialists per client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60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Async-first operations with weekly sync cadence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371600"/>
            <a:ext cx="4160520" cy="32004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408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CerebroFlow (in-house) for client automation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20574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Notion + Linear for project management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23591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HubSpot CRM + Apollo for sales pipeline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660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AI-assisted delivery tools for 3x output/FTE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54680"/>
            <a:ext cx="4160520" cy="320040"/>
          </a:xfrm>
          <a:prstGeom prst="rect">
            <a:avLst/>
          </a:prstGeom>
          <a:solidFill>
            <a:srgbClr val="FF8A00">
              <a:alpha val="25000"/>
            </a:srgbClr>
          </a:solidFill>
          <a:ln w="12700">
            <a:solidFill>
              <a:srgbClr val="FF8A00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91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Delivery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538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ISO-aligned delivery checklists per project 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Client health score tracked weekly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4142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SLA-bound automation support contracts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443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Monthly QBRs for retainer clients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1728" y="315468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3154680"/>
            <a:ext cx="4160520" cy="320040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191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Roadmap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538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Months 1-3: Sales Lead, 2x AI Engineers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8888" y="3840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Months 4-6: Academy Program Manager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8888" y="4142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Months 7-12: COO, 4x Delivery Consultants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44439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Year 2+: City leads for Delhi, Hyderabad, Pune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One Owns All Three Layers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operate in silos. CerebroHive integrates consulting, automation and education.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353312"/>
            <a:ext cx="18288" cy="3474720"/>
          </a:xfrm>
          <a:prstGeom prst="rect">
            <a:avLst/>
          </a:prstGeom>
          <a:solidFill>
            <a:srgbClr val="8A9BB5">
              <a:alpha val="50000"/>
            </a:srgbClr>
          </a:solidFill>
          <a:ln w="12700">
            <a:solidFill>
              <a:srgbClr val="8A9BB5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90672"/>
            <a:ext cx="4754880" cy="18288"/>
          </a:xfrm>
          <a:prstGeom prst="rect">
            <a:avLst/>
          </a:prstGeom>
          <a:solidFill>
            <a:srgbClr val="8A9BB5">
              <a:alpha val="50000"/>
            </a:srgbClr>
          </a:solidFill>
          <a:ln w="12700">
            <a:solidFill>
              <a:srgbClr val="8A9BB5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01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Breadth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834640" y="4901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Breadth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-45720" y="1353312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-45720" y="3090672"/>
            <a:ext cx="475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1520" y="1810512"/>
            <a:ext cx="502920" cy="411480"/>
          </a:xfrm>
          <a:prstGeom prst="ellipse">
            <a:avLst/>
          </a:prstGeom>
          <a:solidFill>
            <a:srgbClr val="151E30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3113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(TCS, Infosys)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22960" y="3730752"/>
            <a:ext cx="502920" cy="411480"/>
          </a:xfrm>
          <a:prstGeom prst="ellipse">
            <a:avLst/>
          </a:prstGeom>
          <a:solidFill>
            <a:srgbClr val="151E30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1513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017520" y="3547872"/>
            <a:ext cx="502920" cy="411480"/>
          </a:xfrm>
          <a:prstGeom prst="ellipse">
            <a:avLst/>
          </a:prstGeom>
          <a:solidFill>
            <a:srgbClr val="151E30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3968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(Upgrad, Scaler)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0" y="1901952"/>
            <a:ext cx="502920" cy="411480"/>
          </a:xfrm>
          <a:prstGeom prst="ellipse">
            <a:avLst/>
          </a:prstGeom>
          <a:solidFill>
            <a:srgbClr val="151E30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3225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Automation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566160" y="3090672"/>
            <a:ext cx="685800" cy="548640"/>
          </a:xfrm>
          <a:prstGeom prst="ellipse">
            <a:avLst/>
          </a:prstGeom>
          <a:solidFill>
            <a:srgbClr val="00E5FF">
              <a:alpha val="70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09067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685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40680" y="1353312"/>
            <a:ext cx="3474720" cy="347472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Edge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874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partner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77840" y="2093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for strategy + execution + training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77840" y="2441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 pricing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2660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at SME-accessible price points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77840" y="30083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CerebroFlow, CerebroAgent — tools competitors lack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77840" y="35753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Edu-to-Client pipeline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alumni become consulting and automation leads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77840" y="4142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authority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4361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content engine builds inbound trust over time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Before Capital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 across all three verticals before formal funding.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Brand and positioning finalized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CerebroHive.com launched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First 2 consulting pilots signed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688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Academy waitlist: 200+ signups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81728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463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07808" y="146304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[DONE]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18105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Rs. 18L consulting revenue recognized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103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CerebroFlow beta with 3 clients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8888" y="2395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YouTube channel: 1,200 subscribers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8888" y="2688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First B2B training proposal submitted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Q3-Q4 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32461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[PLANNED]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35935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Seed round close: Rs. 2 Cr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886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3 automation retainers signed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178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Academy cohort 1 launched (40 students)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471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Hiring: Sales Lead + 2 AI Engineers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15468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18888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 Targets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07808" y="32461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F8A00">
              <a:alpha val="2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[PLANNED]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18888" y="35935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Rs. 4.8 Cr ARR run rate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3886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25+ active clients across verticals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8888" y="41788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CerebroAgent v1 launched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18888" y="4471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Series A readiness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Raising Rs. 2 Crore Seed Round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first profitability and Series A readiness.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 2 Cr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Equity  |  18-Month Runway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3200400" cy="4114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Type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2697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(Equity / Convertible Note)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044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40280" y="30449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 Cr Pre-money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40280" y="3392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739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Period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3739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087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40280" y="4087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434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4434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anchor investor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719072"/>
            <a:ext cx="3931920" cy="65836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139696"/>
            <a:ext cx="3931920" cy="146304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139696"/>
            <a:ext cx="1376172" cy="146304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773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17739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- Rs. 70L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487168"/>
            <a:ext cx="3931920" cy="65836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907792"/>
            <a:ext cx="3931920" cy="146304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907792"/>
            <a:ext cx="1179576" cy="146304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5420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 (CerebroFlow, Agent)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54203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- Rs. 60L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255264"/>
            <a:ext cx="3931920" cy="65836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675888"/>
            <a:ext cx="3931920" cy="146304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675888"/>
            <a:ext cx="982980" cy="1463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3101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Hiring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331012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- Rs. 50L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4023360"/>
            <a:ext cx="3931920" cy="658368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4443984"/>
            <a:ext cx="3931920" cy="146304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4443984"/>
            <a:ext cx="393192" cy="14630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0782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Infra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407822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- Rs. 20L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Profitability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 by Month 18 on current trajectory.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53312"/>
            <a:ext cx="219456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53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353312"/>
            <a:ext cx="128016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03320" y="1353312"/>
            <a:ext cx="128016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83480" y="1353312"/>
            <a:ext cx="128016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353312"/>
            <a:ext cx="128016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1353312"/>
            <a:ext cx="1280160" cy="347472"/>
          </a:xfrm>
          <a:prstGeom prst="rect">
            <a:avLst/>
          </a:prstGeom>
          <a:solidFill>
            <a:srgbClr val="151E30"/>
          </a:solidFill>
          <a:ln w="12700">
            <a:solidFill>
              <a:srgbClr val="151E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719072"/>
            <a:ext cx="21945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719072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(Rs. Cr)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1719072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171907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03320" y="1719072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71907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1719072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71907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719072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71907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43800" y="1719072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171907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112264"/>
            <a:ext cx="21945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112264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23160" y="2112264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211226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03320" y="2112264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211226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112264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11226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2112264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11226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43800" y="2112264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211226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2505456"/>
            <a:ext cx="21945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2505456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23160" y="2505456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23160" y="250545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03320" y="2505456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250545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83480" y="2505456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250545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2505456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50545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43800" y="2505456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250545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2898648"/>
            <a:ext cx="21945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28986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423160" y="2898648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23160" y="28986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03320" y="2898648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03320" y="28986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83480" y="2898648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83480" y="28986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63640" y="2898648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63640" y="28986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43800" y="2898648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43800" y="28986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28600" y="3291840"/>
            <a:ext cx="21945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3291840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423160" y="3291840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23160" y="32918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703320" y="3291840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03320" y="32918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983480" y="3291840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83480" y="32918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63640" y="3291840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3640" y="32918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43800" y="3291840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3800" y="32918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28600" y="3685032"/>
            <a:ext cx="21945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8600" y="3685032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423160" y="3685032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23160" y="36850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703320" y="3685032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03320" y="36850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983480" y="3685032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83480" y="36850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63640" y="3685032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63640" y="36850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543800" y="3685032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43800" y="36850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28600" y="4078224"/>
            <a:ext cx="21945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8600" y="4078224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423160" y="4078224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23160" y="40782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-67%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703320" y="4078224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03320" y="40782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983480" y="4078224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83480" y="40782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63640" y="4078224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63640" y="40782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543800" y="4078224"/>
            <a:ext cx="1280160" cy="374904"/>
          </a:xfrm>
          <a:prstGeom prst="rect">
            <a:avLst/>
          </a:prstGeom>
          <a:solidFill>
            <a:srgbClr val="1A2238"/>
          </a:solidFill>
          <a:ln w="12700">
            <a:solidFill>
              <a:srgbClr val="1A223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43800" y="40782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28600" y="4471416"/>
            <a:ext cx="21945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8600" y="4471416"/>
            <a:ext cx="2194560" cy="37490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423160" y="4471416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23160" y="44714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703320" y="4471416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703320" y="44714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983480" y="4471416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3480" y="44714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263640" y="4471416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63640" y="44714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543800" y="4471416"/>
            <a:ext cx="1280160" cy="374904"/>
          </a:xfrm>
          <a:prstGeom prst="rect">
            <a:avLst/>
          </a:prstGeom>
          <a:solidFill>
            <a:srgbClr val="131C2E"/>
          </a:solidFill>
          <a:ln w="12700">
            <a:solidFill>
              <a:srgbClr val="131C2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43800" y="44714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Projections assume seed round closed Q3 2026. EBITDA includes founder salaries from Month 4.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Operators, Not Theorists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practitioners who have shipped AI products and led enterprise transformations.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554480"/>
            <a:ext cx="658368" cy="658368"/>
          </a:xfrm>
          <a:prstGeom prst="ellipse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Philemon 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286000"/>
            <a:ext cx="3840480" cy="20117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entrepreneur. 8+ yrs across software, ERP, and digital media. Led 3 cross-functional product builds.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81728" y="1371600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658368" cy="658368"/>
          </a:xfrm>
          <a:prstGeom prst="ellipse">
            <a:avLst/>
          </a:prstGeom>
          <a:solidFill>
            <a:srgbClr val="7A5CFF">
              <a:alpha val="30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41848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Practice Lead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41848" y="18288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Consulting [Hiring]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3840480" cy="20117"/>
          </a:xfrm>
          <a:prstGeom prst="rect">
            <a:avLst/>
          </a:prstGeom>
          <a:solidFill>
            <a:srgbClr val="7A5CFF">
              <a:alpha val="30000"/>
            </a:srgbClr>
          </a:solidFill>
          <a:ln w="12700">
            <a:solidFill>
              <a:srgbClr val="7A5C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408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6-8 yrs enterprise AI consulting. Strong client delivery, roadmap design, and stakeholder management.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364992"/>
            <a:ext cx="658368" cy="658368"/>
          </a:xfrm>
          <a:prstGeom prst="ellipse">
            <a:avLst/>
          </a:prstGeom>
          <a:solidFill>
            <a:srgbClr val="FF8A00">
              <a:alpha val="30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364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3467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Lead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6393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Engineering [Hiring]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4096512"/>
            <a:ext cx="3840480" cy="20117"/>
          </a:xfrm>
          <a:prstGeom prst="rect">
            <a:avLst/>
          </a:prstGeom>
          <a:solidFill>
            <a:srgbClr val="FF8A00">
              <a:alpha val="30000"/>
            </a:srgbClr>
          </a:solidFill>
          <a:ln w="12700">
            <a:solidFill>
              <a:srgbClr val="FF8A00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1513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5+ yrs building LLM-powered automation tools. Python, cloud infra, agentic frameworks (LangChain/AutoGen).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81728" y="3182112"/>
            <a:ext cx="4160520" cy="1627632"/>
          </a:xfrm>
          <a:prstGeom prst="rect">
            <a:avLst/>
          </a:prstGeom>
          <a:solidFill>
            <a:srgbClr val="1A2238"/>
          </a:solidFill>
          <a:ln w="1016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364992"/>
            <a:ext cx="658368" cy="658368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64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41848" y="334670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 Director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41848" y="363931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Education [Hiring]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4096512"/>
            <a:ext cx="3840480" cy="20117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513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EdTech or L&amp;D background. Experience running cohort-based programs and B2B training sales.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418320" cy="539496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57200"/>
            <a:ext cx="457200" cy="457200"/>
          </a:xfrm>
          <a:prstGeom prst="hexagon">
            <a:avLst/>
          </a:prstGeom>
          <a:solidFill>
            <a:srgbClr val="1A2238">
              <a:alpha val="40000"/>
            </a:srgbClr>
          </a:solidFill>
          <a:ln w="508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457200" cy="457200"/>
          </a:xfrm>
          <a:prstGeom prst="hexagon">
            <a:avLst/>
          </a:prstGeom>
          <a:solidFill>
            <a:srgbClr val="1A2238">
              <a:alpha val="40000"/>
            </a:srgbClr>
          </a:solidFill>
          <a:ln w="508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554480"/>
            <a:ext cx="457200" cy="457200"/>
          </a:xfrm>
          <a:prstGeom prst="hexagon">
            <a:avLst/>
          </a:prstGeom>
          <a:solidFill>
            <a:srgbClr val="1A2238">
              <a:alpha val="40000"/>
            </a:srgbClr>
          </a:solidFill>
          <a:ln w="508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"/>
            <a:ext cx="457200" cy="457200"/>
          </a:xfrm>
          <a:prstGeom prst="hexagon">
            <a:avLst/>
          </a:prstGeom>
          <a:solidFill>
            <a:srgbClr val="1A2238">
              <a:alpha val="40000"/>
            </a:srgbClr>
          </a:solidFill>
          <a:ln w="508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731520"/>
            <a:ext cx="457200" cy="457200"/>
          </a:xfrm>
          <a:prstGeom prst="hexagon">
            <a:avLst/>
          </a:prstGeom>
          <a:solidFill>
            <a:srgbClr val="1A2238">
              <a:alpha val="40000"/>
            </a:srgbClr>
          </a:solidFill>
          <a:ln w="508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400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AI-Native Future.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97280" y="1417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is raising Rs. 2 Crore to become India's most trusted AI transformation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1938528"/>
            <a:ext cx="182880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148840"/>
            <a:ext cx="5486400" cy="148132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22677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in Touch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2651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ravananviswanath@gmail.com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2926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 www.cerebro-hive.com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2004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/company/cerebro-hive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41605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Future of Intelligence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2026-06-17T19:07:52Z</dcterms:created>
  <dcterms:modified xsi:type="dcterms:W3CDTF">2026-06-17T19:07:52Z</dcterms:modified>
</cp:coreProperties>
</file>