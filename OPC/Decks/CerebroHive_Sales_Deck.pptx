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3657600" cy="36576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2286000" cy="2286000"/>
          </a:xfrm>
          <a:prstGeom prst="ellipse">
            <a:avLst/>
          </a:prstGeom>
          <a:solidFill>
            <a:srgbClr val="7A5CFF">
              <a:alpha val="12000"/>
            </a:srgbClr>
          </a:solidFill>
          <a:ln w="12700">
            <a:solidFill>
              <a:srgbClr val="7A5C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Transformation Partner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743200" cy="2743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6148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organizations automate workflows, deploy AI solutions,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build AI-ready teams  -  faster and with less risk.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 *  Automation  *  Education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 Familiar?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challenges we solve every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148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207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know AI can help us, but we don't know where to start."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4632" y="1865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CEO / Founder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15568"/>
            <a:ext cx="41148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07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team spends hours on tasks that should be automated."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19472" y="1865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COO / Operations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41148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4140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tried an AI tool and it didn't work. Now leadership is skeptical."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" y="3072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Director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322576"/>
            <a:ext cx="41148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9472" y="24140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competitors are moving faster with AI than we are."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9472" y="3072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Business Owner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41148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6210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no governance or policy for AI use in our organization."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" y="42793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Compliance / HR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9584"/>
            <a:ext cx="41148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9472" y="36210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team doesn't know how to use AI tools effectively."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42793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L&amp;D / HR Manager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06040" cy="3977640"/>
          </a:xfrm>
          <a:prstGeom prst="rect">
            <a:avLst/>
          </a:prstGeom>
          <a:solidFill>
            <a:srgbClr val="1A223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051560"/>
            <a:ext cx="594360" cy="59436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Consulting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0391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Transformation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2057400" cy="18288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AI Readiness Assessment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Transformation Roadmap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AI Governance &amp; Policy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3438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Vendor &amp; Tool Selection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785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Board-level AI Advisory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160520"/>
            <a:ext cx="2423160" cy="621792"/>
          </a:xfrm>
          <a:prstGeom prst="rect">
            <a:avLst/>
          </a:prstGeom>
          <a:solidFill>
            <a:srgbClr val="00E5FF">
              <a:alpha val="18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41879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actionable AI strategy with measurable ROI milestones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914400"/>
            <a:ext cx="2606040" cy="3977640"/>
          </a:xfrm>
          <a:prstGeom prst="rect">
            <a:avLst/>
          </a:prstGeom>
          <a:solidFill>
            <a:srgbClr val="1A2238"/>
          </a:solidFill>
          <a:ln w="1270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1051560"/>
            <a:ext cx="594360" cy="594360"/>
          </a:xfrm>
          <a:prstGeom prst="ellipse">
            <a:avLst/>
          </a:prstGeom>
          <a:solidFill>
            <a:srgbClr val="7A5CFF">
              <a:alpha val="25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54680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54680" y="20391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AI Agents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286000"/>
            <a:ext cx="2057400" cy="18288"/>
          </a:xfrm>
          <a:prstGeom prst="rect">
            <a:avLst/>
          </a:prstGeom>
          <a:solidFill>
            <a:srgbClr val="7A5CFF">
              <a:alpha val="40000"/>
            </a:srgbClr>
          </a:solidFill>
          <a:ln w="12700">
            <a:solidFill>
              <a:srgbClr val="7A5C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Workflow Automation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9272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Custom AI Agents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9272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CRM &amp; ERP Integration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9272" y="3438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Customer Support 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9272" y="3785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Finance &amp; HR Automation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4160520"/>
            <a:ext cx="2423160" cy="621792"/>
          </a:xfrm>
          <a:prstGeom prst="rect">
            <a:avLst/>
          </a:prstGeom>
          <a:solidFill>
            <a:srgbClr val="7A5CFF">
              <a:alpha val="18000"/>
            </a:srgbClr>
          </a:solidFill>
          <a:ln w="7620">
            <a:solidFill>
              <a:srgbClr val="7A5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41879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tasks, reduce errors, and scale without headcount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914400"/>
            <a:ext cx="2606040" cy="3977640"/>
          </a:xfrm>
          <a:prstGeom prst="rect">
            <a:avLst/>
          </a:prstGeom>
          <a:solidFill>
            <a:srgbClr val="1A2238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95160" y="1051560"/>
            <a:ext cx="594360" cy="594360"/>
          </a:xfrm>
          <a:prstGeom prst="ellipse">
            <a:avLst/>
          </a:prstGeom>
          <a:solidFill>
            <a:srgbClr val="FF8A00">
              <a:alpha val="25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89320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Training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89320" y="20391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Upskilling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2286000"/>
            <a:ext cx="2057400" cy="18288"/>
          </a:xfrm>
          <a:prstGeom prst="rect">
            <a:avLst/>
          </a:prstGeom>
          <a:solidFill>
            <a:srgbClr val="FF8A00">
              <a:alpha val="4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Corporate AI Bootcamps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53912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Team Training Programs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53912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Prompt Engineering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53912" y="3438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AI Tools Certification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53912" y="3785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Custom Learning Paths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0760" y="4160520"/>
            <a:ext cx="2423160" cy="621792"/>
          </a:xfrm>
          <a:prstGeom prst="rect">
            <a:avLst/>
          </a:prstGeom>
          <a:solidFill>
            <a:srgbClr val="FF8A00">
              <a:alpha val="18000"/>
            </a:srgbClr>
          </a:solidFill>
          <a:ln w="7620">
            <a:solidFill>
              <a:srgbClr val="FF8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3912" y="41879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becomes confident, capable AI users  -  fast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Engage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4-step engagement model  -  from first call to live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2788920"/>
            <a:ext cx="6400800" cy="36576"/>
          </a:xfrm>
          <a:prstGeom prst="rect">
            <a:avLst/>
          </a:prstGeom>
          <a:solidFill>
            <a:srgbClr val="8892A4">
              <a:alpha val="30000"/>
            </a:srgbClr>
          </a:solidFill>
          <a:ln w="12700">
            <a:solidFill>
              <a:srgbClr val="8892A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78608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828800" cy="146304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60-minute session. We understand your current state, pain points, and AI readiness level. No sales pressure.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127248"/>
            <a:ext cx="1188720" cy="256032"/>
          </a:xfrm>
          <a:prstGeom prst="rect">
            <a:avLst/>
          </a:prstGeom>
          <a:solidFill>
            <a:srgbClr val="00E5FF">
              <a:alpha val="18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578608"/>
            <a:ext cx="457200" cy="457200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1005840"/>
            <a:ext cx="1828800" cy="146304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 &amp; Proposal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14173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an AI Readiness Assessment and tailored proposal with clear scope, timeline, and ROI expectations.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3127248"/>
            <a:ext cx="1188720" cy="256032"/>
          </a:xfrm>
          <a:prstGeom prst="rect">
            <a:avLst/>
          </a:prstGeom>
          <a:solidFill>
            <a:srgbClr val="7A5CFF">
              <a:alpha val="18000"/>
            </a:srgbClr>
          </a:solidFill>
          <a:ln w="7620">
            <a:solidFill>
              <a:srgbClr val="7A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2578608"/>
            <a:ext cx="457200" cy="45720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1828800" cy="146304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&amp; 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14173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Consulting, automation build, or training delivered in structured phases with defined milestones and sign-offs.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127248"/>
            <a:ext cx="1188720" cy="256032"/>
          </a:xfrm>
          <a:prstGeom prst="rect">
            <a:avLst/>
          </a:prstGeom>
          <a:solidFill>
            <a:srgbClr val="FF8A00">
              <a:alpha val="18000"/>
            </a:srgbClr>
          </a:solidFill>
          <a:ln w="7620">
            <a:solidFill>
              <a:srgbClr val="FF8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2578608"/>
            <a:ext cx="457200" cy="45720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1005840"/>
            <a:ext cx="1828800" cy="1463040"/>
          </a:xfrm>
          <a:prstGeom prst="rect">
            <a:avLst/>
          </a:prstGeom>
          <a:solidFill>
            <a:srgbClr val="1A2238"/>
          </a:solidFill>
          <a:ln w="1016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2940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Ongoing Support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14173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retainers, follow-on training, and strategic advisory to ensure your AI investments keep compounding.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3127248"/>
            <a:ext cx="1188720" cy="256032"/>
          </a:xfrm>
          <a:prstGeom prst="rect">
            <a:avLst/>
          </a:prstGeom>
          <a:solidFill>
            <a:srgbClr val="39D353">
              <a:alpha val="18000"/>
            </a:srgbClr>
          </a:solidFill>
          <a:ln w="7620">
            <a:solidFill>
              <a:srgbClr val="39D3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566160"/>
            <a:ext cx="8503920" cy="1325880"/>
          </a:xfrm>
          <a:prstGeom prst="rect">
            <a:avLst/>
          </a:prstGeom>
          <a:solidFill>
            <a:srgbClr val="0F182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Clients Report After 90 Days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30-60%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724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tasks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2044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2-4 weeks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52044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monthly per team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3-8x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26364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automation projects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structures to match your needs and budget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06040" cy="384048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170432"/>
            <a:ext cx="594360" cy="59436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Project-Based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Defined scope, one-time needs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2057400" cy="18288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Rs.7L - Rs.14L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3154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Scoped deliverables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Fixed timeline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4078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Milestone billing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Defined sign-off criteria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1051560"/>
            <a:ext cx="2606040" cy="3840480"/>
          </a:xfrm>
          <a:prstGeom prst="rect">
            <a:avLst/>
          </a:prstGeom>
          <a:solidFill>
            <a:srgbClr val="1A2238"/>
          </a:solidFill>
          <a:ln w="1905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051560"/>
            <a:ext cx="2606040" cy="256032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051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60520" y="1426464"/>
            <a:ext cx="594360" cy="594360"/>
          </a:xfrm>
          <a:prstGeom prst="ellipse">
            <a:avLst/>
          </a:prstGeom>
          <a:solidFill>
            <a:srgbClr val="7A5CFF">
              <a:alpha val="25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426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54680" y="2130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24505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Ongoing strategic support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2770632"/>
            <a:ext cx="2057400" cy="18288"/>
          </a:xfrm>
          <a:prstGeom prst="rect">
            <a:avLst/>
          </a:prstGeom>
          <a:solidFill>
            <a:srgbClr val="7A5CFF">
              <a:alpha val="40000"/>
            </a:srgbClr>
          </a:solidFill>
          <a:ln w="12700">
            <a:solidFill>
              <a:srgbClr val="7A5C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8895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Rs.40K - Rs.1L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154680" y="34107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9272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Monthly advisory hours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9272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Ongoing automation support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19272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Priority response SLA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9272" y="4626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Quarterly reviews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1051560"/>
            <a:ext cx="2606040" cy="384048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95160" y="1170432"/>
            <a:ext cx="594360" cy="594360"/>
          </a:xfrm>
          <a:prstGeom prst="ellipse">
            <a:avLst/>
          </a:prstGeom>
          <a:solidFill>
            <a:srgbClr val="FF8A00">
              <a:alpha val="25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89320" y="1874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Package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2648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Team upskilling programs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2514600"/>
            <a:ext cx="2057400" cy="18288"/>
          </a:xfrm>
          <a:prstGeom prst="rect">
            <a:avLst/>
          </a:prstGeom>
          <a:solidFill>
            <a:srgbClr val="FF8A00">
              <a:alpha val="4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Rs.5K - Rs.50K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989320" y="3154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53912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Online + live formats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53912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Certification on completion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53912" y="4078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Custom curriculum available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53912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Corporate cohorts welcome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914400"/>
            <a:ext cx="4572000" cy="4572000"/>
          </a:xfrm>
          <a:prstGeom prst="ellipse">
            <a:avLst/>
          </a:prstGeom>
          <a:solidFill>
            <a:srgbClr val="7A5CFF">
              <a:alpha val="7000"/>
            </a:srgbClr>
          </a:solidFill>
          <a:ln w="12700">
            <a:solidFill>
              <a:srgbClr val="7A5CFF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0E5FF">
              <a:alpha val="9000"/>
            </a:srgbClr>
          </a:solidFill>
          <a:ln w="12700">
            <a:solidFill>
              <a:srgbClr val="00E5FF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68580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Move Faster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AI?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23042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AI Readiness Consultation  -  no commitment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2468880" cy="1051560"/>
          </a:xfrm>
          <a:prstGeom prst="rect">
            <a:avLst/>
          </a:prstGeom>
          <a:solidFill>
            <a:srgbClr val="1A2238"/>
          </a:solidFill>
          <a:ln w="889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91640" y="2907792"/>
            <a:ext cx="438912" cy="43891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 your current operations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834640"/>
            <a:ext cx="2468880" cy="1051560"/>
          </a:xfrm>
          <a:prstGeom prst="rect">
            <a:avLst/>
          </a:prstGeom>
          <a:solidFill>
            <a:srgbClr val="1A2238"/>
          </a:solidFill>
          <a:ln w="889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907792"/>
            <a:ext cx="438912" cy="43891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4015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 quick-win automation opportunities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834640"/>
            <a:ext cx="2468880" cy="1051560"/>
          </a:xfrm>
          <a:prstGeom prst="rect">
            <a:avLst/>
          </a:prstGeom>
          <a:solidFill>
            <a:srgbClr val="1A2238"/>
          </a:solidFill>
          <a:ln w="889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2907792"/>
            <a:ext cx="438912" cy="43891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4015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tailored AI action plan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hello@cerebro-hive.com  *  www.cerebro-hive.com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5262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 -  Intelligence. Automation. Impact.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CerebroHive  -  Sales Deck</dc:title>
  <dc:subject>PptxGenJS Presentation</dc:subject>
  <dc:creator>CerebroHive</dc:creator>
  <cp:lastModifiedBy>CerebroHive</cp:lastModifiedBy>
  <cp:revision>1</cp:revision>
  <dcterms:created xsi:type="dcterms:W3CDTF">2026-06-15T15:29:05Z</dcterms:created>
  <dcterms:modified xsi:type="dcterms:W3CDTF">2026-06-15T15:29:05Z</dcterms:modified>
</cp:coreProperties>
</file>